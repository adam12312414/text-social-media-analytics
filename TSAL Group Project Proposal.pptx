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1111"/>
    <a:srgbClr val="FA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DC01C-E89D-4E94-B57C-6FBBF6F9D250}" v="22" dt="2025-02-05T12:11:01.946"/>
    <p1510:client id="{27E26157-7D06-E431-13B5-7DAD1D7751C0}" v="1" dt="2025-02-06T09:10:11.676"/>
    <p1510:client id="{39A1C368-ABEB-DA4C-0E3B-12B9B5CAFAB2}" v="138" dt="2025-02-06T02:59:50.881"/>
    <p1510:client id="{6C8325F9-9DAB-6771-AF68-1E17DD566B4F}" v="382" dt="2025-02-05T15:22:56.985"/>
    <p1510:client id="{708496A4-E543-251F-F517-16EAB751CBB4}" v="281" dt="2025-02-05T03:30:35.030"/>
    <p1510:client id="{8C5A3920-5438-201E-96D8-20A65DB061A5}" v="1" dt="2025-02-06T12:11:41.090"/>
    <p1510:client id="{8E0A3F81-98A9-28C0-EC89-5CAD8899ECE5}" v="2" dt="2025-02-06T02:43:05.787"/>
    <p1510:client id="{EC5824D9-99DD-40E5-B249-F6AF0A7A09AF}" v="1273" dt="2025-02-06T01:09:54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lm-rezensionen.de/red-one-szene-6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6E26A-179F-E6E7-45A3-606CB290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443"/>
            <a:ext cx="5393361" cy="1325563"/>
          </a:xfrm>
        </p:spPr>
        <p:txBody>
          <a:bodyPr>
            <a:normAutofit/>
          </a:bodyPr>
          <a:lstStyle/>
          <a:p>
            <a:r>
              <a:rPr lang="en-GB" sz="4000" b="1"/>
              <a:t>Problem Statement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7C64-C16F-33E3-7D01-FBEDBEFF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0231" cy="4443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600" b="1" dirty="0"/>
              <a:t>Team’s purpose</a:t>
            </a:r>
          </a:p>
          <a:p>
            <a:pPr marL="0" indent="0">
              <a:buNone/>
            </a:pPr>
            <a:r>
              <a:rPr lang="en-US" sz="1300"/>
              <a:t>Our project looks at </a:t>
            </a:r>
            <a:r>
              <a:rPr lang="en-US" sz="1300" b="1"/>
              <a:t>Reddit comments</a:t>
            </a:r>
            <a:r>
              <a:rPr lang="en-US" sz="1300"/>
              <a:t> to analyze audience emotions and interaction with the</a:t>
            </a:r>
            <a:r>
              <a:rPr lang="en-US" sz="1300" b="1"/>
              <a:t> Christmas film Red One.</a:t>
            </a:r>
            <a:r>
              <a:rPr lang="en-US" sz="1300"/>
              <a:t> Through the analysis of user comments, we aim to learn </a:t>
            </a:r>
            <a:r>
              <a:rPr lang="en-US" sz="1300" b="1"/>
              <a:t>how viewers interpret the film</a:t>
            </a:r>
            <a:r>
              <a:rPr lang="en-US" sz="1300"/>
              <a:t>, whether their </a:t>
            </a:r>
            <a:r>
              <a:rPr lang="en-US" sz="1300" b="1"/>
              <a:t>responses are positive, neutral, or negative</a:t>
            </a:r>
            <a:r>
              <a:rPr lang="en-US" sz="1300"/>
              <a:t>, and which</a:t>
            </a:r>
            <a:r>
              <a:rPr lang="en-US" sz="1300" b="1"/>
              <a:t> elements—like the plot, the actors, the action scenes, or the holiday themes—are most often brought up</a:t>
            </a:r>
            <a:r>
              <a:rPr lang="en-US" sz="1300"/>
              <a:t>. This study will provide light on the elements that influence audiences' perceptions of Red One and how effectively it connects with them.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600" b="1" dirty="0"/>
              <a:t>Imperatives and objectives</a:t>
            </a:r>
          </a:p>
          <a:p>
            <a:r>
              <a:rPr lang="en-US" sz="1300" b="1" dirty="0"/>
              <a:t>Evaluate Audience Reactions</a:t>
            </a:r>
            <a:r>
              <a:rPr lang="en-US" sz="1300" dirty="0"/>
              <a:t>: For an idea of the general reception, group comments into positive, neutral, or negative.</a:t>
            </a:r>
          </a:p>
          <a:p>
            <a:r>
              <a:rPr lang="en-US" sz="1300" b="1" dirty="0"/>
              <a:t>Determine the Main Topics of Discussion</a:t>
            </a:r>
            <a:r>
              <a:rPr lang="en-US" sz="1300" dirty="0"/>
              <a:t>: Find out and extract what the audience is discussing, such as the plot, the actors, the action scenes, or the holiday themes.</a:t>
            </a:r>
          </a:p>
          <a:p>
            <a:r>
              <a:rPr lang="en-US" sz="1300" b="1" dirty="0"/>
              <a:t>Measure Engagement</a:t>
            </a:r>
            <a:r>
              <a:rPr lang="en-US" sz="1300" dirty="0"/>
              <a:t>: Examine the relationship between audience sentiment and the number of upvotes the comment receives to understand audience interaction.</a:t>
            </a:r>
          </a:p>
        </p:txBody>
      </p:sp>
      <p:pic>
        <p:nvPicPr>
          <p:cNvPr id="15" name="Picture 14" descr="A poster of a movie&#10;&#10;AI-generated content may be incorrect.">
            <a:extLst>
              <a:ext uri="{FF2B5EF4-FFF2-40B4-BE49-F238E27FC236}">
                <a16:creationId xmlns:a16="http://schemas.microsoft.com/office/drawing/2014/main" id="{4168094D-9CA0-C524-CADB-A532E1A2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01" t="203" r="1201" b="32386"/>
          <a:stretch/>
        </p:blipFill>
        <p:spPr>
          <a:xfrm>
            <a:off x="6374920" y="758514"/>
            <a:ext cx="5124985" cy="5117939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36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35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3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2F349-7CED-1A98-23BE-2257B54B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598" y="357"/>
            <a:ext cx="5458838" cy="1325563"/>
          </a:xfrm>
        </p:spPr>
        <p:txBody>
          <a:bodyPr>
            <a:normAutofit/>
          </a:bodyPr>
          <a:lstStyle/>
          <a:p>
            <a:r>
              <a:rPr lang="en-SG" b="1"/>
              <a:t>Data Understanding</a:t>
            </a:r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15511-C599-97C6-0BA0-9D3169503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645" y="1326353"/>
            <a:ext cx="5897564" cy="5283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Process of acquiring our dataset</a:t>
            </a:r>
          </a:p>
          <a:p>
            <a:pPr marL="0" indent="0">
              <a:buNone/>
            </a:pPr>
            <a:r>
              <a:rPr lang="en-US" sz="1200" dirty="0"/>
              <a:t>Using the Reddit API and PRAW, the dataset was obtained from the </a:t>
            </a:r>
            <a:r>
              <a:rPr lang="en-US" sz="1200" b="1" dirty="0"/>
              <a:t>Reddit r/movies subreddit</a:t>
            </a:r>
            <a:r>
              <a:rPr lang="en-US" sz="1200" dirty="0"/>
              <a:t>. All of the user comments that were available were retrieved from a Red One review thread through a script. </a:t>
            </a:r>
            <a:r>
              <a:rPr lang="en-US" sz="1200" b="1" dirty="0"/>
              <a:t>Vader was used to assign sentiment scores</a:t>
            </a:r>
            <a:r>
              <a:rPr lang="en-US" sz="1200" dirty="0"/>
              <a:t>, classifying each comment as either positive, neutral, or negative. After that, the data was organized for analysis using a Pandas DataFrame.</a:t>
            </a:r>
          </a:p>
          <a:p>
            <a:pPr marL="0" indent="0">
              <a:buNone/>
            </a:pPr>
            <a:r>
              <a:rPr lang="en-US" sz="1600" b="1" dirty="0"/>
              <a:t>Our dataset</a:t>
            </a:r>
          </a:p>
          <a:p>
            <a:pPr marL="0" indent="0">
              <a:buNone/>
            </a:pPr>
            <a:r>
              <a:rPr lang="en-US" sz="1200" dirty="0"/>
              <a:t>The dataset includes </a:t>
            </a:r>
            <a:r>
              <a:rPr lang="en-US" sz="1200" b="1" dirty="0"/>
              <a:t>951 Reddit comments</a:t>
            </a:r>
            <a:r>
              <a:rPr lang="en-US" sz="1200" dirty="0"/>
              <a:t> about </a:t>
            </a:r>
            <a:r>
              <a:rPr lang="en-US" sz="1200" b="1" dirty="0"/>
              <a:t>Red One</a:t>
            </a:r>
            <a:r>
              <a:rPr lang="en-US" sz="1200" dirty="0"/>
              <a:t> from the </a:t>
            </a:r>
            <a:r>
              <a:rPr lang="en-US" sz="1200" b="1" dirty="0"/>
              <a:t>Reddit movie subreddit.</a:t>
            </a:r>
            <a:r>
              <a:rPr lang="en-US" sz="1200" dirty="0"/>
              <a:t> Post ID, subreddit name, comment text, upvotes (the amount of engagement), and a sentiment score (Positive, Neutral, or Negative) are all included in each comment to assess audience perspective.</a:t>
            </a:r>
          </a:p>
          <a:p>
            <a:pPr marL="0" indent="0">
              <a:buNone/>
            </a:pPr>
            <a:r>
              <a:rPr lang="en-US" sz="1600" b="1" dirty="0"/>
              <a:t>Why our dataset can address our problem statement</a:t>
            </a:r>
          </a:p>
          <a:p>
            <a:pPr marL="0" indent="0">
              <a:buNone/>
            </a:pPr>
            <a:r>
              <a:rPr lang="en-US" sz="1200" dirty="0"/>
              <a:t>The dataset uses </a:t>
            </a:r>
            <a:r>
              <a:rPr lang="en-US" sz="1200" b="1" dirty="0"/>
              <a:t>sentiment ratings</a:t>
            </a:r>
            <a:r>
              <a:rPr lang="en-US" sz="1200" dirty="0"/>
              <a:t> to determine whether </a:t>
            </a:r>
            <a:r>
              <a:rPr lang="en-US" sz="1200" b="1" dirty="0"/>
              <a:t>responses are positive, neutral, or negative</a:t>
            </a:r>
            <a:r>
              <a:rPr lang="en-US" sz="1200" dirty="0"/>
              <a:t> to capture the actual audience's opinions about Red One. </a:t>
            </a:r>
            <a:r>
              <a:rPr lang="en-US" sz="1200" b="1" dirty="0"/>
              <a:t>Discussion themes</a:t>
            </a:r>
            <a:r>
              <a:rPr lang="en-US" sz="1200" dirty="0"/>
              <a:t> are revealed through</a:t>
            </a:r>
            <a:r>
              <a:rPr lang="en-US" sz="1200" b="1" dirty="0"/>
              <a:t> comment text</a:t>
            </a:r>
            <a:r>
              <a:rPr lang="en-US" sz="1200" dirty="0"/>
              <a:t>, while </a:t>
            </a:r>
            <a:r>
              <a:rPr lang="en-US" sz="1200" b="1" dirty="0"/>
              <a:t>audience perception and responses </a:t>
            </a:r>
            <a:r>
              <a:rPr lang="en-US" sz="1200" dirty="0"/>
              <a:t>are analyzed by </a:t>
            </a:r>
            <a:r>
              <a:rPr lang="en-US" sz="1200" b="1" dirty="0"/>
              <a:t>upvotes</a:t>
            </a:r>
            <a:r>
              <a:rPr lang="en-US" sz="1200" dirty="0"/>
              <a:t>, which show engagement trends.</a:t>
            </a:r>
          </a:p>
          <a:p>
            <a:pPr marL="0" indent="0">
              <a:buNone/>
            </a:pPr>
            <a:r>
              <a:rPr lang="en-US" sz="1600" b="1" dirty="0"/>
              <a:t>Limitations or challenges associated with accessing/acquiring the data</a:t>
            </a:r>
          </a:p>
          <a:p>
            <a:pPr marL="0" indent="0">
              <a:buNone/>
            </a:pPr>
            <a:r>
              <a:rPr lang="en-US" sz="1200" dirty="0"/>
              <a:t>The dataset </a:t>
            </a:r>
            <a:r>
              <a:rPr lang="en-US" sz="1200" b="1" dirty="0"/>
              <a:t>may not accurately reflect all audiences</a:t>
            </a:r>
            <a:r>
              <a:rPr lang="en-US" sz="1200" dirty="0"/>
              <a:t> because it is restricted to Reddit discussions. </a:t>
            </a:r>
            <a:r>
              <a:rPr lang="en-US" sz="1200" b="1" dirty="0"/>
              <a:t>Sarcasm can be misinterpreted</a:t>
            </a:r>
            <a:r>
              <a:rPr lang="en-US" sz="1200" dirty="0"/>
              <a:t> by sentiment analysis, and upvotes don't always mean that people agree. Additionally, only </a:t>
            </a:r>
            <a:r>
              <a:rPr lang="en-US" sz="1200" b="1" dirty="0"/>
              <a:t>publicly accessible posts at the time of extraction </a:t>
            </a:r>
            <a:r>
              <a:rPr lang="en-US" sz="1200" dirty="0"/>
              <a:t>are included in the data.</a:t>
            </a:r>
            <a:endParaRPr lang="en-SG" sz="1200" dirty="0"/>
          </a:p>
        </p:txBody>
      </p:sp>
      <p:pic>
        <p:nvPicPr>
          <p:cNvPr id="50" name="Picture 49" descr="A screenshot of a social media chat&#10;&#10;AI-generated content may be incorrect.">
            <a:extLst>
              <a:ext uri="{FF2B5EF4-FFF2-40B4-BE49-F238E27FC236}">
                <a16:creationId xmlns:a16="http://schemas.microsoft.com/office/drawing/2014/main" id="{CAB785B2-2104-304F-89C7-397691A76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7" y="1233054"/>
            <a:ext cx="4480730" cy="395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DC18F-886B-F474-0249-5B968452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6F9EF-B3C0-E17B-C05C-1B8F6062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US" b="1"/>
              <a:t>Methodology</a:t>
            </a:r>
            <a:r>
              <a:rPr lang="en-US"/>
              <a:t>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C82A3ED-616D-ECF4-2541-02C6FC9F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71" y="1165584"/>
            <a:ext cx="4555700" cy="2072843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5A04E-55B8-64CE-CB32-C829DAD2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353" y="3609707"/>
            <a:ext cx="2997064" cy="1740437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E33D5-1C5A-6E41-796A-D128C0855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066" y="1593245"/>
            <a:ext cx="5914733" cy="50980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/>
              <a:t>Steps for conducting social media analytics</a:t>
            </a:r>
            <a:endParaRPr lang="en-US" sz="1700" dirty="0"/>
          </a:p>
          <a:p>
            <a:pPr marL="0" indent="0">
              <a:buNone/>
            </a:pPr>
            <a:r>
              <a:rPr lang="en-US" sz="1300" dirty="0"/>
              <a:t>1. Import the libraries: Pandas, </a:t>
            </a:r>
            <a:r>
              <a:rPr lang="en-US" sz="1300" dirty="0" err="1"/>
              <a:t>praw</a:t>
            </a:r>
            <a:r>
              <a:rPr lang="en-US" sz="1300" dirty="0"/>
              <a:t>, Vader for API interaction and sentiment analysis</a:t>
            </a:r>
            <a:endParaRPr lang="en-US" sz="1600"/>
          </a:p>
          <a:p>
            <a:pPr marL="0" indent="0">
              <a:buNone/>
            </a:pPr>
            <a:r>
              <a:rPr lang="en-US" sz="1300" dirty="0"/>
              <a:t>2. Define the reddit account credentials and URL of the reddit post we chose for crawling. </a:t>
            </a:r>
          </a:p>
          <a:p>
            <a:pPr marL="0" indent="0">
              <a:buNone/>
            </a:pPr>
            <a:r>
              <a:rPr lang="en-US" sz="1300" dirty="0"/>
              <a:t>3. Retrieve the crawled comments and store them in a temporary list</a:t>
            </a:r>
          </a:p>
          <a:p>
            <a:pPr marL="0" indent="0">
              <a:buNone/>
            </a:pPr>
            <a:r>
              <a:rPr lang="en-US" sz="1300" dirty="0"/>
              <a:t>4. Perform sentiment analysis using Vader and assign sentiment score of ‘Positive’, ’Neutral’ or ‘Negative’ to each comment. Append each comment’s metadata (comment text, upvotes etc.) and sentiment score to a list.</a:t>
            </a:r>
          </a:p>
          <a:p>
            <a:pPr marL="0" indent="0">
              <a:buNone/>
            </a:pPr>
            <a:r>
              <a:rPr lang="en-US" sz="1300" dirty="0"/>
              <a:t>5. Convert the comments data into a </a:t>
            </a:r>
            <a:r>
              <a:rPr lang="en-US" sz="1300" err="1"/>
              <a:t>DataFrame</a:t>
            </a:r>
            <a:r>
              <a:rPr lang="en-US" sz="1300" dirty="0"/>
              <a:t> and export it as a CSV file for further analysis.</a:t>
            </a:r>
            <a:br>
              <a:rPr lang="en-US" sz="1300" dirty="0"/>
            </a:br>
            <a:r>
              <a:rPr lang="en-US" sz="1300" dirty="0"/>
              <a:t> </a:t>
            </a:r>
          </a:p>
          <a:p>
            <a:pPr marL="0" indent="0">
              <a:buNone/>
            </a:pPr>
            <a:r>
              <a:rPr lang="en-US" sz="1700" b="1" dirty="0"/>
              <a:t>How each step contributes to the solving of the problem statement.</a:t>
            </a:r>
            <a:endParaRPr lang="en-US" sz="1300" dirty="0"/>
          </a:p>
          <a:p>
            <a:pPr marL="342900" indent="-342900">
              <a:buAutoNum type="arabicPeriod"/>
            </a:pPr>
            <a:r>
              <a:rPr lang="en-US" sz="1300" dirty="0"/>
              <a:t>Pandas: Required to store the data in a </a:t>
            </a:r>
            <a:r>
              <a:rPr lang="en-US" sz="1300" err="1"/>
              <a:t>Dataframe</a:t>
            </a:r>
            <a:r>
              <a:rPr lang="en-US" sz="1300" dirty="0"/>
              <a:t> and export it once the comments have been crawled.</a:t>
            </a:r>
          </a:p>
          <a:p>
            <a:pPr marL="342900" indent="-342900">
              <a:buAutoNum type="arabicPeriod"/>
            </a:pPr>
            <a:r>
              <a:rPr lang="en-US" sz="1300" dirty="0"/>
              <a:t>API Access (PRAW): Allows simple retrieval of Reddit comments for analysis.</a:t>
            </a:r>
          </a:p>
          <a:p>
            <a:pPr marL="342900" indent="-342900">
              <a:buAutoNum type="arabicPeriod"/>
            </a:pPr>
            <a:r>
              <a:rPr lang="en-US" sz="1300" dirty="0"/>
              <a:t>Sentiment analysis (Vader): Classifies audience sentiment which helps to evaluate Red One's general reception.</a:t>
            </a:r>
          </a:p>
          <a:p>
            <a:pPr marL="342900" indent="-342900">
              <a:buAutoNum type="arabicPeriod"/>
            </a:pPr>
            <a:r>
              <a:rPr lang="en-US" sz="1300" dirty="0"/>
              <a:t>Exporting to CSV: Makes data ready for more in-depth analysis to identify themes and audience engagement</a:t>
            </a:r>
            <a:endParaRPr lang="en-SG" sz="1300" dirty="0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5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D8DAB-4BA0-BCF6-FC5A-532609EE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838D1-327D-5E1B-9C01-978BE148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45" y="-21648"/>
            <a:ext cx="5393361" cy="1325563"/>
          </a:xfrm>
        </p:spPr>
        <p:txBody>
          <a:bodyPr>
            <a:normAutofit/>
          </a:bodyPr>
          <a:lstStyle/>
          <a:p>
            <a:r>
              <a:rPr lang="en-US" sz="4000" b="1">
                <a:latin typeface="Aptos Display"/>
                <a:ea typeface="Calibri"/>
                <a:cs typeface="Calibri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4F77-A31B-EC39-F333-6E223900E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08" y="1280565"/>
            <a:ext cx="6462247" cy="539415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Aptos"/>
                <a:ea typeface="Calibri"/>
                <a:cs typeface="Calibri"/>
              </a:rPr>
              <a:t>What should be the expected outcomes?</a:t>
            </a:r>
          </a:p>
          <a:p>
            <a:pPr marL="0" indent="0">
              <a:buNone/>
            </a:pPr>
            <a:r>
              <a:rPr lang="en-US" sz="1200" dirty="0">
                <a:latin typeface="Aptos"/>
                <a:ea typeface="Calibri"/>
                <a:cs typeface="Calibri"/>
              </a:rPr>
              <a:t>The outcomes should show a </a:t>
            </a:r>
            <a:r>
              <a:rPr lang="en-US" sz="1200" b="1" dirty="0">
                <a:latin typeface="Aptos"/>
                <a:ea typeface="Calibri"/>
                <a:cs typeface="Calibri"/>
              </a:rPr>
              <a:t>clear distribution of sentiment</a:t>
            </a:r>
            <a:r>
              <a:rPr lang="en-US" sz="1200" dirty="0">
                <a:latin typeface="Aptos"/>
                <a:ea typeface="Calibri"/>
                <a:cs typeface="Calibri"/>
              </a:rPr>
              <a:t> (positive, neutral, and negative), </a:t>
            </a:r>
            <a:r>
              <a:rPr lang="en-US" sz="1200" b="1" dirty="0">
                <a:latin typeface="Aptos"/>
                <a:ea typeface="Calibri"/>
                <a:cs typeface="Calibri"/>
              </a:rPr>
              <a:t>important discussion topics</a:t>
            </a:r>
            <a:r>
              <a:rPr lang="en-US" sz="1200" dirty="0">
                <a:latin typeface="Aptos"/>
                <a:ea typeface="Calibri"/>
                <a:cs typeface="Calibri"/>
              </a:rPr>
              <a:t> like the cast or plot, and an </a:t>
            </a:r>
            <a:r>
              <a:rPr lang="en-US" sz="1200" b="1" dirty="0">
                <a:latin typeface="Aptos"/>
                <a:ea typeface="Calibri"/>
                <a:cs typeface="Calibri"/>
              </a:rPr>
              <a:t>understanding of the relationship between sentiment and upvotes</a:t>
            </a:r>
            <a:r>
              <a:rPr lang="en-US" sz="1200" dirty="0">
                <a:latin typeface="Aptos"/>
                <a:ea typeface="Calibri"/>
                <a:cs typeface="Calibri"/>
              </a:rPr>
              <a:t>. Visuals like word clouds, pie charts, bar charts, scatter plots, and topic clusters will be useful in effectively communicating these findings.</a:t>
            </a:r>
          </a:p>
          <a:p>
            <a:pPr marL="0" indent="0">
              <a:buNone/>
            </a:pPr>
            <a:r>
              <a:rPr lang="en-US" sz="1600" b="1" dirty="0">
                <a:latin typeface="Aptos"/>
                <a:ea typeface="Calibri"/>
                <a:cs typeface="Calibri"/>
              </a:rPr>
              <a:t>Metrics to use to evaluate the outcomes</a:t>
            </a:r>
          </a:p>
          <a:p>
            <a:r>
              <a:rPr lang="en-US" sz="1200" dirty="0">
                <a:latin typeface="Aptos"/>
                <a:ea typeface="Calibri"/>
                <a:cs typeface="Calibri"/>
              </a:rPr>
              <a:t>Sentiment Proportions: The percentage of neutral, negative, and positive comments.</a:t>
            </a:r>
          </a:p>
          <a:p>
            <a:r>
              <a:rPr lang="en-US" sz="1200" dirty="0">
                <a:latin typeface="Aptos"/>
                <a:ea typeface="Calibri"/>
                <a:cs typeface="Calibri"/>
              </a:rPr>
              <a:t>Engagement Metrics: Total and average upvotes for each sentiment category.</a:t>
            </a:r>
          </a:p>
          <a:p>
            <a:r>
              <a:rPr lang="en-US" sz="1200" dirty="0">
                <a:latin typeface="Aptos"/>
                <a:ea typeface="Calibri"/>
                <a:cs typeface="Calibri"/>
              </a:rPr>
              <a:t>Theme Relevance: Frequency of specific phrases or words in comments.</a:t>
            </a:r>
          </a:p>
          <a:p>
            <a:pPr marL="0" indent="0">
              <a:buNone/>
            </a:pPr>
            <a:r>
              <a:rPr lang="en-US" sz="1600" b="1" dirty="0">
                <a:latin typeface="Aptos"/>
                <a:ea typeface="Calibri"/>
                <a:cs typeface="Calibri"/>
              </a:rPr>
              <a:t>How to derive insights from the outcomes?</a:t>
            </a:r>
          </a:p>
          <a:p>
            <a:r>
              <a:rPr lang="en-US" sz="1200" dirty="0">
                <a:latin typeface="Aptos"/>
                <a:ea typeface="Calibri"/>
                <a:cs typeface="Calibri"/>
              </a:rPr>
              <a:t>By looking at the distribution of sentiments about the movie and most frequent terms used in comments we can derive various insights about the movie and its reception by the public.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</a:rPr>
              <a:t>If positivity is high → The film is well-received.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</a:rPr>
              <a:t>If negativity is high → Look deeper at </a:t>
            </a:r>
            <a:r>
              <a:rPr lang="en-US" sz="1200" i="1" dirty="0">
                <a:latin typeface="Aptos"/>
                <a:ea typeface="Calibri"/>
                <a:cs typeface="Calibri"/>
              </a:rPr>
              <a:t>why</a:t>
            </a:r>
            <a:r>
              <a:rPr lang="en-US" sz="1200" dirty="0">
                <a:latin typeface="Aptos"/>
                <a:ea typeface="Calibri"/>
                <a:cs typeface="Calibri"/>
              </a:rPr>
              <a:t> (see bar chart &amp; common words).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</a:rPr>
              <a:t>If neutral is high → Viewers may feel indifferent, meaning the movie lacks emotional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</a:rPr>
              <a:t>If ‘CGI’ is mentioned often with disappointing negative sentiment </a:t>
            </a:r>
            <a:r>
              <a:rPr lang="en-US" sz="1200" dirty="0">
                <a:latin typeface="Aptos"/>
                <a:ea typeface="Calibri"/>
                <a:cs typeface="Calibri"/>
                <a:sym typeface="Wingdings" panose="05000000000000000000" pitchFamily="2" charset="2"/>
              </a:rPr>
              <a:t> The effects were disappointing</a:t>
            </a:r>
            <a:endParaRPr lang="en-US" sz="1200" dirty="0">
              <a:latin typeface="Aptos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  <a:sym typeface="Wingdings" panose="05000000000000000000" pitchFamily="2" charset="2"/>
              </a:rPr>
              <a:t>If ‘plot’ is mostly neutral  The storyline might be forgettable</a:t>
            </a:r>
            <a:endParaRPr lang="en-US" sz="1200" dirty="0">
              <a:latin typeface="Aptos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ptos"/>
                <a:ea typeface="Calibri"/>
                <a:cs typeface="Calibri"/>
              </a:rPr>
              <a:t>If "The Rock" (Dwayne Johnson) is mentioned a lot → The lead actor is a focal point for discussion.</a:t>
            </a:r>
          </a:p>
          <a:p>
            <a:endParaRPr lang="en-US" sz="900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person in a leather jacket with a person in the background&#10;&#10;AI-generated content may be incorrect.">
            <a:extLst>
              <a:ext uri="{FF2B5EF4-FFF2-40B4-BE49-F238E27FC236}">
                <a16:creationId xmlns:a16="http://schemas.microsoft.com/office/drawing/2014/main" id="{1A258D1A-1511-1D93-32E2-CE070EF42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974" r="19275" b="-2"/>
          <a:stretch/>
        </p:blipFill>
        <p:spPr>
          <a:xfrm>
            <a:off x="6437673" y="633008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67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6A20352D-C5BC-57E1-E654-D000BD881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893" y="4656795"/>
            <a:ext cx="2558759" cy="206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891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Problem Statement and Background</vt:lpstr>
      <vt:lpstr>Data Understanding</vt:lpstr>
      <vt:lpstr>Methodology </vt:lpstr>
      <vt:lpstr>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ADAM HAIZAD BIN MOHAMAD FAIZAL</cp:lastModifiedBy>
  <cp:revision>59</cp:revision>
  <dcterms:created xsi:type="dcterms:W3CDTF">2025-02-03T03:00:52Z</dcterms:created>
  <dcterms:modified xsi:type="dcterms:W3CDTF">2025-11-12T10:39:35Z</dcterms:modified>
</cp:coreProperties>
</file>